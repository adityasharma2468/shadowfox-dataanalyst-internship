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67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3864"/>
          </a:solidFill>
          <a:ln/>
        </p:spPr>
      </p:sp>
      <p:sp>
        <p:nvSpPr>
          <p:cNvPr id="3" name="Shape 1"/>
          <p:cNvSpPr/>
          <p:nvPr/>
        </p:nvSpPr>
        <p:spPr>
          <a:xfrm>
            <a:off x="8961120" y="-2011680"/>
            <a:ext cx="5486400" cy="5486400"/>
          </a:xfrm>
          <a:prstGeom prst="ellipse">
            <a:avLst/>
          </a:prstGeom>
          <a:solidFill>
            <a:srgbClr val="24466E"/>
          </a:solidFill>
          <a:ln/>
        </p:spPr>
      </p:sp>
      <p:sp>
        <p:nvSpPr>
          <p:cNvPr id="4" name="Shape 2"/>
          <p:cNvSpPr/>
          <p:nvPr/>
        </p:nvSpPr>
        <p:spPr>
          <a:xfrm>
            <a:off x="-2194560" y="4389120"/>
            <a:ext cx="4572000" cy="4572000"/>
          </a:xfrm>
          <a:prstGeom prst="ellipse">
            <a:avLst/>
          </a:prstGeom>
          <a:solidFill>
            <a:srgbClr val="24466E"/>
          </a:solidFill>
          <a:ln/>
        </p:spPr>
      </p:sp>
      <p:sp>
        <p:nvSpPr>
          <p:cNvPr id="5" name="Text 3"/>
          <p:cNvSpPr/>
          <p:nvPr/>
        </p:nvSpPr>
        <p:spPr>
          <a:xfrm>
            <a:off x="822960" y="2040775"/>
            <a:ext cx="5494713" cy="914400"/>
          </a:xfrm>
          <a:prstGeom prst="rect">
            <a:avLst/>
          </a:prstGeom>
          <a:noFill/>
          <a:ln/>
        </p:spPr>
        <p:txBody>
          <a:bodyPr wrap="square" rtlCol="0" anchor="ctr"/>
          <a:lstStyle/>
          <a:p>
            <a:pPr marL="0" indent="0">
              <a:buNone/>
            </a:pPr>
            <a:r>
              <a:rPr lang="en-US" sz="4600" b="1" kern="0" spc="300" dirty="0">
                <a:solidFill>
                  <a:srgbClr val="FFFFFF"/>
                </a:solidFill>
                <a:latin typeface="Calibri" pitchFamily="34" charset="0"/>
                <a:ea typeface="Calibri" pitchFamily="34" charset="-122"/>
                <a:cs typeface="Calibri" pitchFamily="34" charset="-120"/>
              </a:rPr>
              <a:t>DATA ANALYST</a:t>
            </a:r>
            <a:endParaRPr lang="en-US" sz="4600" dirty="0"/>
          </a:p>
        </p:txBody>
      </p:sp>
      <p:sp>
        <p:nvSpPr>
          <p:cNvPr id="6" name="Text 4"/>
          <p:cNvSpPr/>
          <p:nvPr/>
        </p:nvSpPr>
        <p:spPr>
          <a:xfrm>
            <a:off x="822960" y="2755667"/>
            <a:ext cx="4995949" cy="548640"/>
          </a:xfrm>
          <a:prstGeom prst="rect">
            <a:avLst/>
          </a:prstGeom>
          <a:noFill/>
          <a:ln/>
        </p:spPr>
        <p:txBody>
          <a:bodyPr wrap="square" rtlCol="0" anchor="ctr"/>
          <a:lstStyle/>
          <a:p>
            <a:pPr marL="0" indent="0">
              <a:buNone/>
            </a:pPr>
            <a:r>
              <a:rPr lang="en-US" sz="2200" dirty="0">
                <a:solidFill>
                  <a:srgbClr val="B9C6DC"/>
                </a:solidFill>
                <a:latin typeface="Calibri" pitchFamily="34" charset="0"/>
                <a:ea typeface="Calibri" pitchFamily="34" charset="-122"/>
                <a:cs typeface="Calibri" pitchFamily="34" charset="-120"/>
              </a:rPr>
              <a:t>Internship Task Presentation</a:t>
            </a:r>
            <a:endParaRPr lang="en-US" sz="2200" dirty="0"/>
          </a:p>
        </p:txBody>
      </p:sp>
      <p:sp>
        <p:nvSpPr>
          <p:cNvPr id="7" name="Shape 5"/>
          <p:cNvSpPr/>
          <p:nvPr/>
        </p:nvSpPr>
        <p:spPr>
          <a:xfrm>
            <a:off x="935184" y="3279370"/>
            <a:ext cx="1188720" cy="45720"/>
          </a:xfrm>
          <a:prstGeom prst="rect">
            <a:avLst/>
          </a:prstGeom>
          <a:solidFill>
            <a:srgbClr val="C99A3E"/>
          </a:solidFill>
          <a:ln/>
        </p:spPr>
      </p:sp>
      <p:sp>
        <p:nvSpPr>
          <p:cNvPr id="8" name="Text 6"/>
          <p:cNvSpPr/>
          <p:nvPr/>
        </p:nvSpPr>
        <p:spPr>
          <a:xfrm>
            <a:off x="822960" y="3383280"/>
            <a:ext cx="7315200" cy="4114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By: Aditya Kumar Sharma</a:t>
            </a:r>
            <a:endParaRPr lang="en-US" sz="1800" dirty="0"/>
          </a:p>
        </p:txBody>
      </p:sp>
      <p:sp>
        <p:nvSpPr>
          <p:cNvPr id="9" name="Text 7"/>
          <p:cNvSpPr/>
          <p:nvPr/>
        </p:nvSpPr>
        <p:spPr>
          <a:xfrm>
            <a:off x="822960" y="3811382"/>
            <a:ext cx="7315200" cy="365760"/>
          </a:xfrm>
          <a:prstGeom prst="rect">
            <a:avLst/>
          </a:prstGeom>
          <a:noFill/>
          <a:ln/>
        </p:spPr>
        <p:txBody>
          <a:bodyPr wrap="square" rtlCol="0" anchor="ctr"/>
          <a:lstStyle/>
          <a:p>
            <a:pPr marL="0" indent="0">
              <a:buNone/>
            </a:pPr>
            <a:r>
              <a:rPr lang="en-US" sz="1400" dirty="0">
                <a:solidFill>
                  <a:srgbClr val="B9C6DC"/>
                </a:solidFill>
                <a:latin typeface="Calibri" pitchFamily="34" charset="0"/>
                <a:ea typeface="Calibri" pitchFamily="34" charset="-122"/>
                <a:cs typeface="Calibri" pitchFamily="34" charset="-120"/>
              </a:rPr>
              <a:t>ShadowFox Internship  |  August Batch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777240"/>
            <a:ext cx="7315200" cy="73152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Contents</a:t>
            </a:r>
            <a:endParaRPr lang="en-US" sz="3400" dirty="0"/>
          </a:p>
        </p:txBody>
      </p:sp>
      <p:sp>
        <p:nvSpPr>
          <p:cNvPr id="4" name="Text 2"/>
          <p:cNvSpPr/>
          <p:nvPr/>
        </p:nvSpPr>
        <p:spPr>
          <a:xfrm>
            <a:off x="822960" y="1920240"/>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01</a:t>
            </a:r>
            <a:endParaRPr lang="en-US" sz="2600" dirty="0">
              <a:solidFill>
                <a:schemeClr val="tx1">
                  <a:lumMod val="50000"/>
                  <a:lumOff val="50000"/>
                </a:schemeClr>
              </a:solidFill>
            </a:endParaRPr>
          </a:p>
        </p:txBody>
      </p:sp>
      <p:sp>
        <p:nvSpPr>
          <p:cNvPr id="5" name="Text 3"/>
          <p:cNvSpPr/>
          <p:nvPr/>
        </p:nvSpPr>
        <p:spPr>
          <a:xfrm>
            <a:off x="1737360" y="1975104"/>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Acknowledgement</a:t>
            </a:r>
            <a:endParaRPr lang="en-US" sz="1900" dirty="0"/>
          </a:p>
        </p:txBody>
      </p:sp>
      <p:sp>
        <p:nvSpPr>
          <p:cNvPr id="6" name="Shape 4"/>
          <p:cNvSpPr/>
          <p:nvPr/>
        </p:nvSpPr>
        <p:spPr>
          <a:xfrm>
            <a:off x="1737360" y="2487168"/>
            <a:ext cx="8869680" cy="0"/>
          </a:xfrm>
          <a:prstGeom prst="line">
            <a:avLst/>
          </a:prstGeom>
          <a:noFill/>
          <a:ln w="12700">
            <a:solidFill>
              <a:srgbClr val="E4E8EE"/>
            </a:solidFill>
            <a:prstDash val="solid"/>
          </a:ln>
        </p:spPr>
      </p:sp>
      <p:sp>
        <p:nvSpPr>
          <p:cNvPr id="7" name="Text 5"/>
          <p:cNvSpPr/>
          <p:nvPr/>
        </p:nvSpPr>
        <p:spPr>
          <a:xfrm>
            <a:off x="822960" y="2761488"/>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02</a:t>
            </a:r>
            <a:endParaRPr lang="en-US" sz="2600" dirty="0">
              <a:solidFill>
                <a:schemeClr val="tx1">
                  <a:lumMod val="50000"/>
                  <a:lumOff val="50000"/>
                </a:schemeClr>
              </a:solidFill>
            </a:endParaRPr>
          </a:p>
        </p:txBody>
      </p:sp>
      <p:sp>
        <p:nvSpPr>
          <p:cNvPr id="8" name="Text 6"/>
          <p:cNvSpPr/>
          <p:nvPr/>
        </p:nvSpPr>
        <p:spPr>
          <a:xfrm>
            <a:off x="1737360" y="2816352"/>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Beginner Level — Retail Sales Dashboard</a:t>
            </a:r>
            <a:endParaRPr lang="en-US" sz="1900" dirty="0"/>
          </a:p>
        </p:txBody>
      </p:sp>
      <p:sp>
        <p:nvSpPr>
          <p:cNvPr id="9" name="Shape 7"/>
          <p:cNvSpPr/>
          <p:nvPr/>
        </p:nvSpPr>
        <p:spPr>
          <a:xfrm>
            <a:off x="1737360" y="3328416"/>
            <a:ext cx="8869680" cy="0"/>
          </a:xfrm>
          <a:prstGeom prst="line">
            <a:avLst/>
          </a:prstGeom>
          <a:noFill/>
          <a:ln w="12700">
            <a:solidFill>
              <a:srgbClr val="E4E8EE"/>
            </a:solidFill>
            <a:prstDash val="solid"/>
          </a:ln>
        </p:spPr>
      </p:sp>
      <p:sp>
        <p:nvSpPr>
          <p:cNvPr id="10" name="Text 8"/>
          <p:cNvSpPr/>
          <p:nvPr/>
        </p:nvSpPr>
        <p:spPr>
          <a:xfrm>
            <a:off x="822960" y="3602736"/>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03</a:t>
            </a:r>
            <a:endParaRPr lang="en-US" sz="2600" dirty="0">
              <a:solidFill>
                <a:schemeClr val="tx1">
                  <a:lumMod val="50000"/>
                  <a:lumOff val="50000"/>
                </a:schemeClr>
              </a:solidFill>
            </a:endParaRPr>
          </a:p>
        </p:txBody>
      </p:sp>
      <p:sp>
        <p:nvSpPr>
          <p:cNvPr id="11" name="Text 9"/>
          <p:cNvSpPr/>
          <p:nvPr/>
        </p:nvSpPr>
        <p:spPr>
          <a:xfrm>
            <a:off x="1737360" y="3657600"/>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Intermediate Level — Customer &amp; Revenue Analysis</a:t>
            </a:r>
            <a:endParaRPr lang="en-US" sz="1900" dirty="0"/>
          </a:p>
        </p:txBody>
      </p:sp>
      <p:sp>
        <p:nvSpPr>
          <p:cNvPr id="12" name="Shape 10"/>
          <p:cNvSpPr/>
          <p:nvPr/>
        </p:nvSpPr>
        <p:spPr>
          <a:xfrm>
            <a:off x="1737360" y="4169664"/>
            <a:ext cx="8869680" cy="0"/>
          </a:xfrm>
          <a:prstGeom prst="line">
            <a:avLst/>
          </a:prstGeom>
          <a:noFill/>
          <a:ln w="12700">
            <a:solidFill>
              <a:srgbClr val="E4E8EE"/>
            </a:solidFill>
            <a:prstDash val="solid"/>
          </a:ln>
        </p:spPr>
      </p:sp>
      <p:sp>
        <p:nvSpPr>
          <p:cNvPr id="13" name="Text 11"/>
          <p:cNvSpPr/>
          <p:nvPr/>
        </p:nvSpPr>
        <p:spPr>
          <a:xfrm>
            <a:off x="822960" y="4443984"/>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04</a:t>
            </a:r>
            <a:endParaRPr lang="en-US" sz="2600" dirty="0">
              <a:solidFill>
                <a:schemeClr val="tx1">
                  <a:lumMod val="50000"/>
                  <a:lumOff val="50000"/>
                </a:schemeClr>
              </a:solidFill>
            </a:endParaRPr>
          </a:p>
        </p:txBody>
      </p:sp>
      <p:sp>
        <p:nvSpPr>
          <p:cNvPr id="14" name="Text 12"/>
          <p:cNvSpPr/>
          <p:nvPr/>
        </p:nvSpPr>
        <p:spPr>
          <a:xfrm>
            <a:off x="1737360" y="4498848"/>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Advanced Level — Power BI Attrition Dashboard</a:t>
            </a:r>
            <a:endParaRPr lang="en-US" sz="1900" dirty="0"/>
          </a:p>
        </p:txBody>
      </p:sp>
      <p:sp>
        <p:nvSpPr>
          <p:cNvPr id="15" name="Shape 13"/>
          <p:cNvSpPr/>
          <p:nvPr/>
        </p:nvSpPr>
        <p:spPr>
          <a:xfrm>
            <a:off x="1737360" y="5010912"/>
            <a:ext cx="8869680" cy="0"/>
          </a:xfrm>
          <a:prstGeom prst="line">
            <a:avLst/>
          </a:prstGeom>
          <a:noFill/>
          <a:ln w="12700">
            <a:solidFill>
              <a:srgbClr val="E4E8EE"/>
            </a:solidFill>
            <a:prstDash val="solid"/>
          </a:ln>
        </p:spPr>
      </p:sp>
      <p:sp>
        <p:nvSpPr>
          <p:cNvPr id="16" name="Text 14"/>
          <p:cNvSpPr/>
          <p:nvPr/>
        </p:nvSpPr>
        <p:spPr>
          <a:xfrm>
            <a:off x="822960" y="5285232"/>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05</a:t>
            </a:r>
            <a:endParaRPr lang="en-US" sz="2600" dirty="0">
              <a:solidFill>
                <a:schemeClr val="tx1">
                  <a:lumMod val="50000"/>
                  <a:lumOff val="50000"/>
                </a:schemeClr>
              </a:solidFill>
            </a:endParaRPr>
          </a:p>
        </p:txBody>
      </p:sp>
      <p:sp>
        <p:nvSpPr>
          <p:cNvPr id="17" name="Text 15"/>
          <p:cNvSpPr/>
          <p:nvPr/>
        </p:nvSpPr>
        <p:spPr>
          <a:xfrm>
            <a:off x="1737360" y="5340096"/>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Conclusion</a:t>
            </a:r>
            <a:endParaRPr lang="en-US" sz="1900" dirty="0"/>
          </a:p>
        </p:txBody>
      </p:sp>
      <p:sp>
        <p:nvSpPr>
          <p:cNvPr id="18" name="Shape 16"/>
          <p:cNvSpPr/>
          <p:nvPr/>
        </p:nvSpPr>
        <p:spPr>
          <a:xfrm>
            <a:off x="1737360" y="5852160"/>
            <a:ext cx="8869680" cy="0"/>
          </a:xfrm>
          <a:prstGeom prst="line">
            <a:avLst/>
          </a:prstGeom>
          <a:noFill/>
          <a:ln w="12700">
            <a:solidFill>
              <a:srgbClr val="E4E8E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01</a:t>
            </a:r>
            <a:endParaRPr lang="en-US" sz="1300" dirty="0"/>
          </a:p>
        </p:txBody>
      </p:sp>
      <p:sp>
        <p:nvSpPr>
          <p:cNvPr id="3" name="Text 1"/>
          <p:cNvSpPr/>
          <p:nvPr/>
        </p:nvSpPr>
        <p:spPr>
          <a:xfrm>
            <a:off x="548640" y="777240"/>
            <a:ext cx="8229600" cy="73152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Acknowledgement</a:t>
            </a:r>
            <a:endParaRPr lang="en-US" sz="3400" dirty="0"/>
          </a:p>
        </p:txBody>
      </p:sp>
      <p:sp>
        <p:nvSpPr>
          <p:cNvPr id="4" name="Shape 2"/>
          <p:cNvSpPr/>
          <p:nvPr/>
        </p:nvSpPr>
        <p:spPr>
          <a:xfrm>
            <a:off x="548640" y="1828800"/>
            <a:ext cx="11064240" cy="4023360"/>
          </a:xfrm>
          <a:prstGeom prst="rect">
            <a:avLst/>
          </a:prstGeom>
          <a:solidFill>
            <a:srgbClr val="FFFFFF"/>
          </a:solidFill>
          <a:ln/>
          <a:effectLst>
            <a:outerShdw blurRad="101600" dist="38100" dir="5400000" algn="bl" rotWithShape="0">
              <a:srgbClr val="888888">
                <a:alpha val="25000"/>
              </a:srgbClr>
            </a:outerShdw>
          </a:effectLst>
        </p:spPr>
      </p:sp>
      <p:sp>
        <p:nvSpPr>
          <p:cNvPr id="5" name="Text 3"/>
          <p:cNvSpPr/>
          <p:nvPr/>
        </p:nvSpPr>
        <p:spPr>
          <a:xfrm>
            <a:off x="1005840" y="2148840"/>
            <a:ext cx="10149840" cy="3474720"/>
          </a:xfrm>
          <a:prstGeom prst="rect">
            <a:avLst/>
          </a:prstGeom>
          <a:noFill/>
          <a:ln/>
        </p:spPr>
        <p:txBody>
          <a:bodyPr wrap="square" rtlCol="0" anchor="t"/>
          <a:lstStyle/>
          <a:p>
            <a:pPr marL="0" indent="0">
              <a:lnSpc>
                <a:spcPct val="130000"/>
              </a:lnSpc>
              <a:buNone/>
            </a:pPr>
            <a:r>
              <a:rPr lang="en-US" sz="1700" dirty="0">
                <a:solidFill>
                  <a:srgbClr val="333333"/>
                </a:solidFill>
                <a:latin typeface="Calibri" pitchFamily="34" charset="0"/>
                <a:ea typeface="Calibri" pitchFamily="34" charset="-122"/>
                <a:cs typeface="Calibri" pitchFamily="34" charset="-120"/>
              </a:rPr>
              <a:t>I would like to express my gratitude to ShadowFox for giving me the opportunity to work on real-world, progressively challenging data analysis tasks during this internship.</a:t>
            </a:r>
            <a:endParaRPr lang="en-US" sz="1700" dirty="0"/>
          </a:p>
          <a:p>
            <a:pPr marL="0" indent="0">
              <a:lnSpc>
                <a:spcPct val="130000"/>
              </a:lnSpc>
              <a:buNone/>
            </a:pPr>
            <a:endParaRPr lang="en-US" sz="1700" dirty="0"/>
          </a:p>
          <a:p>
            <a:pPr marL="0" indent="0">
              <a:lnSpc>
                <a:spcPct val="130000"/>
              </a:lnSpc>
              <a:buNone/>
            </a:pPr>
            <a:r>
              <a:rPr lang="en-US" sz="1700" dirty="0">
                <a:solidFill>
                  <a:srgbClr val="333333"/>
                </a:solidFill>
                <a:latin typeface="Calibri" pitchFamily="34" charset="0"/>
                <a:ea typeface="Calibri" pitchFamily="34" charset="-122"/>
                <a:cs typeface="Calibri" pitchFamily="34" charset="-120"/>
              </a:rPr>
              <a:t>I would also like to extend my thanks to my mentor, Mr. Aakash, for guidance and feedback throughout this experience.</a:t>
            </a:r>
            <a:endParaRPr lang="en-US" sz="1700" dirty="0"/>
          </a:p>
          <a:p>
            <a:pPr marL="0" indent="0">
              <a:lnSpc>
                <a:spcPct val="130000"/>
              </a:lnSpc>
              <a:buNone/>
            </a:pPr>
            <a:endParaRPr lang="en-US" sz="1700" dirty="0"/>
          </a:p>
          <a:p>
            <a:pPr marL="0" indent="0">
              <a:lnSpc>
                <a:spcPct val="130000"/>
              </a:lnSpc>
              <a:buNone/>
            </a:pPr>
            <a:r>
              <a:rPr lang="en-US" sz="1700" dirty="0">
                <a:solidFill>
                  <a:srgbClr val="333333"/>
                </a:solidFill>
                <a:latin typeface="Calibri" pitchFamily="34" charset="0"/>
                <a:ea typeface="Calibri" pitchFamily="34" charset="-122"/>
                <a:cs typeface="Calibri" pitchFamily="34" charset="-120"/>
              </a:rPr>
              <a:t>All tasks were completed independently by me. Public datasets (Kaggle) were used for analysis, and Claude (Anthropic) was used as an assistant for research, troubleshooting, and reference guidance throughout the process.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02</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marL="0" indent="0">
              <a:buNone/>
            </a:pPr>
            <a:r>
              <a:rPr lang="en-US" sz="3200" b="1" dirty="0">
                <a:solidFill>
                  <a:srgbClr val="1F3864"/>
                </a:solidFill>
                <a:latin typeface="Calibri" pitchFamily="34" charset="0"/>
                <a:ea typeface="Calibri" pitchFamily="34" charset="-122"/>
                <a:cs typeface="Calibri" pitchFamily="34" charset="-120"/>
              </a:rPr>
              <a:t>Beginner Level</a:t>
            </a:r>
            <a:endParaRPr lang="en-US" sz="3200" dirty="0"/>
          </a:p>
        </p:txBody>
      </p:sp>
      <p:sp>
        <p:nvSpPr>
          <p:cNvPr id="4" name="Text 2"/>
          <p:cNvSpPr/>
          <p:nvPr/>
        </p:nvSpPr>
        <p:spPr>
          <a:xfrm>
            <a:off x="548640" y="1298448"/>
            <a:ext cx="8229600" cy="457200"/>
          </a:xfrm>
          <a:prstGeom prst="rect">
            <a:avLst/>
          </a:prstGeom>
          <a:noFill/>
          <a:ln/>
        </p:spPr>
        <p:txBody>
          <a:bodyPr wrap="square" rtlCol="0" anchor="ctr"/>
          <a:lstStyle/>
          <a:p>
            <a:pPr marL="0" indent="0">
              <a:buNone/>
            </a:pPr>
            <a:r>
              <a:rPr lang="en-US" sz="1600" b="1" dirty="0">
                <a:solidFill>
                  <a:srgbClr val="2E8B8B"/>
                </a:solidFill>
                <a:latin typeface="Calibri" pitchFamily="34" charset="0"/>
                <a:ea typeface="Calibri" pitchFamily="34" charset="-122"/>
                <a:cs typeface="Calibri" pitchFamily="34" charset="-120"/>
              </a:rPr>
              <a:t>Retail Sales Dashboard — Excel</a:t>
            </a:r>
            <a:endParaRPr lang="en-US" sz="1600" dirty="0"/>
          </a:p>
        </p:txBody>
      </p:sp>
      <p:sp>
        <p:nvSpPr>
          <p:cNvPr id="5" name="Text 3"/>
          <p:cNvSpPr/>
          <p:nvPr/>
        </p:nvSpPr>
        <p:spPr>
          <a:xfrm>
            <a:off x="640080" y="2103120"/>
            <a:ext cx="5486400" cy="3931920"/>
          </a:xfrm>
          <a:prstGeom prst="rect">
            <a:avLst/>
          </a:prstGeom>
          <a:noFill/>
          <a:ln/>
        </p:spPr>
        <p:txBody>
          <a:bodyPr wrap="square" rtlCol="0" anchor="t"/>
          <a:lstStyle/>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Task: Analyze a retail sales dataset (Superstore, ~9,800 orders) and build a spreadsheet-based KPI dashboard.</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Cleaned raw data — handled date formatting, verified no duplicates or missing critical values.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Calculated key metrics: Total Sales, Total Orders, Average Order Value.</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Built category-wise, region-wise, and monthly trend analysis with charts.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Consolidated everything into a single-page dashboard with KPI cards.</a:t>
            </a:r>
            <a:endParaRPr lang="en-US" sz="1550" dirty="0"/>
          </a:p>
        </p:txBody>
      </p:sp>
      <p:sp>
        <p:nvSpPr>
          <p:cNvPr id="6" name="Shape 4"/>
          <p:cNvSpPr/>
          <p:nvPr/>
        </p:nvSpPr>
        <p:spPr>
          <a:xfrm>
            <a:off x="6446520" y="2103120"/>
            <a:ext cx="5166360" cy="3840480"/>
          </a:xfrm>
          <a:prstGeom prst="rect">
            <a:avLst/>
          </a:prstGeom>
          <a:solidFill>
            <a:srgbClr val="F5F7FA"/>
          </a:solidFill>
          <a:ln/>
        </p:spPr>
      </p:sp>
      <p:sp>
        <p:nvSpPr>
          <p:cNvPr id="7" name="Text 5"/>
          <p:cNvSpPr/>
          <p:nvPr/>
        </p:nvSpPr>
        <p:spPr>
          <a:xfrm>
            <a:off x="6720840" y="2331720"/>
            <a:ext cx="4572000" cy="320040"/>
          </a:xfrm>
          <a:prstGeom prst="rect">
            <a:avLst/>
          </a:prstGeom>
          <a:noFill/>
          <a:ln/>
        </p:spPr>
        <p:txBody>
          <a:bodyPr wrap="square" rtlCol="0" anchor="ctr"/>
          <a:lstStyle/>
          <a:p>
            <a:pPr marL="0" indent="0">
              <a:buNone/>
            </a:pPr>
            <a:r>
              <a:rPr lang="en-US" sz="1200" b="1" kern="0" spc="100" dirty="0">
                <a:solidFill>
                  <a:srgbClr val="C99A3E"/>
                </a:solidFill>
                <a:latin typeface="Calibri" pitchFamily="34" charset="0"/>
                <a:ea typeface="Calibri" pitchFamily="34" charset="-122"/>
                <a:cs typeface="Calibri" pitchFamily="34" charset="-120"/>
              </a:rPr>
              <a:t>KEY FINDING</a:t>
            </a:r>
            <a:endParaRPr lang="en-US" sz="1200" dirty="0"/>
          </a:p>
        </p:txBody>
      </p:sp>
      <p:sp>
        <p:nvSpPr>
          <p:cNvPr id="8" name="Text 6"/>
          <p:cNvSpPr/>
          <p:nvPr/>
        </p:nvSpPr>
        <p:spPr>
          <a:xfrm>
            <a:off x="6720840" y="2697480"/>
            <a:ext cx="4617720" cy="1371600"/>
          </a:xfrm>
          <a:prstGeom prst="rect">
            <a:avLst/>
          </a:prstGeom>
          <a:noFill/>
          <a:ln/>
        </p:spPr>
        <p:txBody>
          <a:bodyPr wrap="square" rtlCol="0" anchor="ctr"/>
          <a:lstStyle/>
          <a:p>
            <a:pPr marL="0" indent="0">
              <a:lnSpc>
                <a:spcPct val="130000"/>
              </a:lnSpc>
              <a:buNone/>
            </a:pPr>
            <a:r>
              <a:rPr lang="en-US" sz="1550" b="1" dirty="0">
                <a:solidFill>
                  <a:srgbClr val="1F3864"/>
                </a:solidFill>
                <a:latin typeface="Calibri" pitchFamily="34" charset="0"/>
                <a:ea typeface="Calibri" pitchFamily="34" charset="-122"/>
                <a:cs typeface="Calibri" pitchFamily="34" charset="-120"/>
              </a:rPr>
              <a:t>Clear seasonal spike every September–November, with steady year-over-year growth from 2015 to 2018.</a:t>
            </a:r>
            <a:endParaRPr lang="en-US" sz="1550" dirty="0"/>
          </a:p>
        </p:txBody>
      </p:sp>
      <p:sp>
        <p:nvSpPr>
          <p:cNvPr id="9" name="Text 7"/>
          <p:cNvSpPr/>
          <p:nvPr/>
        </p:nvSpPr>
        <p:spPr>
          <a:xfrm>
            <a:off x="6720840" y="5029200"/>
            <a:ext cx="4617720" cy="822960"/>
          </a:xfrm>
          <a:prstGeom prst="rect">
            <a:avLst/>
          </a:prstGeom>
          <a:noFill/>
          <a:ln/>
        </p:spPr>
        <p:txBody>
          <a:bodyPr wrap="square" rtlCol="0" anchor="ctr"/>
          <a:lstStyle/>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Tools: Microsoft Excel  •  SUMIF / SUMIFS / COUNTIFS</a:t>
            </a:r>
            <a:endParaRPr lang="en-US" sz="1250" dirty="0"/>
          </a:p>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Dataset: Kaggle — Superstore Sales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Beginner Level — Final Dashboard</a:t>
            </a:r>
            <a:endParaRPr lang="en-US" sz="2200" dirty="0"/>
          </a:p>
        </p:txBody>
      </p:sp>
      <p:pic>
        <p:nvPicPr>
          <p:cNvPr id="5" name="Picture 4">
            <a:extLst>
              <a:ext uri="{FF2B5EF4-FFF2-40B4-BE49-F238E27FC236}">
                <a16:creationId xmlns:a16="http://schemas.microsoft.com/office/drawing/2014/main" id="{DDE093B7-8520-38FF-0356-FF5DAAA1E038}"/>
              </a:ext>
            </a:extLst>
          </p:cNvPr>
          <p:cNvPicPr>
            <a:picLocks noChangeAspect="1"/>
          </p:cNvPicPr>
          <p:nvPr/>
        </p:nvPicPr>
        <p:blipFill>
          <a:blip r:embed="rId3"/>
          <a:stretch>
            <a:fillRect/>
          </a:stretch>
        </p:blipFill>
        <p:spPr>
          <a:xfrm>
            <a:off x="653143" y="960120"/>
            <a:ext cx="10874828" cy="57264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03</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marL="0" indent="0">
              <a:buNone/>
            </a:pPr>
            <a:r>
              <a:rPr lang="en-US" sz="3200" b="1" dirty="0">
                <a:solidFill>
                  <a:srgbClr val="1F3864"/>
                </a:solidFill>
                <a:latin typeface="Calibri" pitchFamily="34" charset="0"/>
                <a:ea typeface="Calibri" pitchFamily="34" charset="-122"/>
                <a:cs typeface="Calibri" pitchFamily="34" charset="-120"/>
              </a:rPr>
              <a:t>Intermediate Level</a:t>
            </a:r>
            <a:endParaRPr lang="en-US" sz="3200" dirty="0"/>
          </a:p>
        </p:txBody>
      </p:sp>
      <p:sp>
        <p:nvSpPr>
          <p:cNvPr id="4" name="Text 2"/>
          <p:cNvSpPr/>
          <p:nvPr/>
        </p:nvSpPr>
        <p:spPr>
          <a:xfrm>
            <a:off x="548640" y="1298448"/>
            <a:ext cx="8229600" cy="457200"/>
          </a:xfrm>
          <a:prstGeom prst="rect">
            <a:avLst/>
          </a:prstGeom>
          <a:noFill/>
          <a:ln/>
        </p:spPr>
        <p:txBody>
          <a:bodyPr wrap="square" rtlCol="0" anchor="ctr"/>
          <a:lstStyle/>
          <a:p>
            <a:pPr marL="0" indent="0">
              <a:buNone/>
            </a:pPr>
            <a:r>
              <a:rPr lang="en-US" sz="1600" b="1" dirty="0">
                <a:solidFill>
                  <a:srgbClr val="2E8B8B"/>
                </a:solidFill>
                <a:latin typeface="Calibri" pitchFamily="34" charset="0"/>
                <a:ea typeface="Calibri" pitchFamily="34" charset="-122"/>
                <a:cs typeface="Calibri" pitchFamily="34" charset="-120"/>
              </a:rPr>
              <a:t>Customer &amp; Revenue Analysis — Excel</a:t>
            </a:r>
            <a:endParaRPr lang="en-US" sz="1600" dirty="0"/>
          </a:p>
        </p:txBody>
      </p:sp>
      <p:sp>
        <p:nvSpPr>
          <p:cNvPr id="5" name="Text 3"/>
          <p:cNvSpPr/>
          <p:nvPr/>
        </p:nvSpPr>
        <p:spPr>
          <a:xfrm>
            <a:off x="640080" y="2103120"/>
            <a:ext cx="5486400" cy="3931920"/>
          </a:xfrm>
          <a:prstGeom prst="rect">
            <a:avLst/>
          </a:prstGeom>
          <a:noFill/>
          <a:ln/>
        </p:spPr>
        <p:txBody>
          <a:bodyPr wrap="square" rtlCol="0" anchor="t"/>
          <a:lstStyle/>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Task: Move beyond summary reporting into customer behavior, segment performance, and revenue concentration.</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Customer analysis: 793 unique customers; top 10 customers = only 6.8% of revenue.</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Segment analysis: Consumer segment alone drives 50.8% of total revenue.</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Product analysis: 8 of 17 sub-categories generate 78% of total revenue.</a:t>
            </a:r>
            <a:endParaRPr lang="en-US" sz="1550" dirty="0"/>
          </a:p>
        </p:txBody>
      </p:sp>
      <p:sp>
        <p:nvSpPr>
          <p:cNvPr id="6" name="Shape 4"/>
          <p:cNvSpPr/>
          <p:nvPr/>
        </p:nvSpPr>
        <p:spPr>
          <a:xfrm>
            <a:off x="6446520" y="2103120"/>
            <a:ext cx="5166360" cy="3840480"/>
          </a:xfrm>
          <a:prstGeom prst="rect">
            <a:avLst/>
          </a:prstGeom>
          <a:solidFill>
            <a:srgbClr val="F5F7FA"/>
          </a:solidFill>
          <a:ln/>
        </p:spPr>
      </p:sp>
      <p:sp>
        <p:nvSpPr>
          <p:cNvPr id="7" name="Text 5"/>
          <p:cNvSpPr/>
          <p:nvPr/>
        </p:nvSpPr>
        <p:spPr>
          <a:xfrm>
            <a:off x="6720840" y="2331720"/>
            <a:ext cx="4572000" cy="320040"/>
          </a:xfrm>
          <a:prstGeom prst="rect">
            <a:avLst/>
          </a:prstGeom>
          <a:noFill/>
          <a:ln/>
        </p:spPr>
        <p:txBody>
          <a:bodyPr wrap="square" rtlCol="0" anchor="ctr"/>
          <a:lstStyle/>
          <a:p>
            <a:pPr marL="0" indent="0">
              <a:buNone/>
            </a:pPr>
            <a:r>
              <a:rPr lang="en-US" sz="1200" b="1" kern="0" spc="100" dirty="0">
                <a:solidFill>
                  <a:srgbClr val="C99A3E"/>
                </a:solidFill>
                <a:latin typeface="Calibri" pitchFamily="34" charset="0"/>
                <a:ea typeface="Calibri" pitchFamily="34" charset="-122"/>
                <a:cs typeface="Calibri" pitchFamily="34" charset="-120"/>
              </a:rPr>
              <a:t>KEY FINDING</a:t>
            </a:r>
            <a:endParaRPr lang="en-US" sz="1200" dirty="0"/>
          </a:p>
        </p:txBody>
      </p:sp>
      <p:sp>
        <p:nvSpPr>
          <p:cNvPr id="8" name="Text 6"/>
          <p:cNvSpPr/>
          <p:nvPr/>
        </p:nvSpPr>
        <p:spPr>
          <a:xfrm>
            <a:off x="6720840" y="2697480"/>
            <a:ext cx="4617720" cy="1554480"/>
          </a:xfrm>
          <a:prstGeom prst="rect">
            <a:avLst/>
          </a:prstGeom>
          <a:noFill/>
          <a:ln/>
        </p:spPr>
        <p:txBody>
          <a:bodyPr wrap="square" rtlCol="0" anchor="ctr"/>
          <a:lstStyle/>
          <a:p>
            <a:pPr marL="0" indent="0">
              <a:lnSpc>
                <a:spcPct val="130000"/>
              </a:lnSpc>
              <a:buNone/>
            </a:pPr>
            <a:r>
              <a:rPr lang="en-US" sz="1550" b="1" dirty="0">
                <a:solidFill>
                  <a:srgbClr val="1F3864"/>
                </a:solidFill>
                <a:latin typeface="Calibri" pitchFamily="34" charset="0"/>
                <a:ea typeface="Calibri" pitchFamily="34" charset="-122"/>
                <a:cs typeface="Calibri" pitchFamily="34" charset="-120"/>
              </a:rPr>
              <a:t>Revenue is well-diversified across customers (low concentration risk), but heavily reliant on the Consumer segment and a handful of top-performing sub-categories.</a:t>
            </a:r>
            <a:endParaRPr lang="en-US" sz="1550" dirty="0"/>
          </a:p>
        </p:txBody>
      </p:sp>
      <p:sp>
        <p:nvSpPr>
          <p:cNvPr id="9" name="Text 7"/>
          <p:cNvSpPr/>
          <p:nvPr/>
        </p:nvSpPr>
        <p:spPr>
          <a:xfrm>
            <a:off x="6720840" y="4343400"/>
            <a:ext cx="4617720" cy="731520"/>
          </a:xfrm>
          <a:prstGeom prst="rect">
            <a:avLst/>
          </a:prstGeom>
          <a:noFill/>
          <a:ln/>
        </p:spPr>
        <p:txBody>
          <a:bodyPr wrap="square" rtlCol="0" anchor="ctr"/>
          <a:lstStyle/>
          <a:p>
            <a:pPr marL="0" indent="0">
              <a:lnSpc>
                <a:spcPct val="130000"/>
              </a:lnSpc>
              <a:buNone/>
            </a:pPr>
            <a:r>
              <a:rPr lang="en-US" sz="1300" i="1" dirty="0">
                <a:solidFill>
                  <a:srgbClr val="444444"/>
                </a:solidFill>
                <a:latin typeface="Calibri" pitchFamily="34" charset="0"/>
                <a:ea typeface="Calibri" pitchFamily="34" charset="-122"/>
                <a:cs typeface="Calibri" pitchFamily="34" charset="-120"/>
              </a:rPr>
              <a:t>Findings converted into 6 data-backed business recommendations.</a:t>
            </a:r>
            <a:endParaRPr lang="en-US" sz="1300" dirty="0"/>
          </a:p>
        </p:txBody>
      </p:sp>
      <p:sp>
        <p:nvSpPr>
          <p:cNvPr id="10" name="Text 8"/>
          <p:cNvSpPr/>
          <p:nvPr/>
        </p:nvSpPr>
        <p:spPr>
          <a:xfrm>
            <a:off x="6720840" y="5029200"/>
            <a:ext cx="4617720" cy="822960"/>
          </a:xfrm>
          <a:prstGeom prst="rect">
            <a:avLst/>
          </a:prstGeom>
          <a:noFill/>
          <a:ln/>
        </p:spPr>
        <p:txBody>
          <a:bodyPr wrap="square" rtlCol="0" anchor="ctr"/>
          <a:lstStyle/>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Tools: Microsoft Excel  •  SUMIF / COUNTIF</a:t>
            </a:r>
            <a:endParaRPr lang="en-US" sz="1250" dirty="0"/>
          </a:p>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Dataset: Kaggle — Superstore Sales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Intermediate Level — Key Charts</a:t>
            </a:r>
            <a:endParaRPr lang="en-US" sz="2200" dirty="0"/>
          </a:p>
        </p:txBody>
      </p:sp>
      <p:sp>
        <p:nvSpPr>
          <p:cNvPr id="3" name="Shape 1"/>
          <p:cNvSpPr/>
          <p:nvPr/>
        </p:nvSpPr>
        <p:spPr>
          <a:xfrm>
            <a:off x="502920" y="1234440"/>
            <a:ext cx="5532120" cy="5029200"/>
          </a:xfrm>
          <a:prstGeom prst="rect">
            <a:avLst/>
          </a:prstGeom>
          <a:solidFill>
            <a:srgbClr val="FFFFFF"/>
          </a:solidFill>
          <a:ln/>
          <a:effectLst>
            <a:outerShdw blurRad="76200" dist="25400" dir="5400000" algn="bl" rotWithShape="0">
              <a:srgbClr val="888888">
                <a:alpha val="20000"/>
              </a:srgbClr>
            </a:outerShdw>
          </a:effectLst>
        </p:spPr>
      </p:sp>
      <p:pic>
        <p:nvPicPr>
          <p:cNvPr id="4" name="Image 0" descr="/home/claude/pptx_work/segment_chart.png"/>
          <p:cNvPicPr>
            <a:picLocks noChangeAspect="1"/>
          </p:cNvPicPr>
          <p:nvPr/>
        </p:nvPicPr>
        <p:blipFill>
          <a:blip r:embed="rId3"/>
          <a:stretch>
            <a:fillRect/>
          </a:stretch>
        </p:blipFill>
        <p:spPr>
          <a:xfrm>
            <a:off x="777240" y="1508760"/>
            <a:ext cx="4983480" cy="3488436"/>
          </a:xfrm>
          <a:prstGeom prst="rect">
            <a:avLst/>
          </a:prstGeom>
        </p:spPr>
      </p:pic>
      <p:sp>
        <p:nvSpPr>
          <p:cNvPr id="5" name="Shape 2"/>
          <p:cNvSpPr/>
          <p:nvPr/>
        </p:nvSpPr>
        <p:spPr>
          <a:xfrm>
            <a:off x="6172200" y="1234440"/>
            <a:ext cx="5532120" cy="5029200"/>
          </a:xfrm>
          <a:prstGeom prst="rect">
            <a:avLst/>
          </a:prstGeom>
          <a:solidFill>
            <a:srgbClr val="FFFFFF"/>
          </a:solidFill>
          <a:ln/>
          <a:effectLst>
            <a:outerShdw blurRad="76200" dist="25400" dir="5400000" algn="bl" rotWithShape="0">
              <a:srgbClr val="888888">
                <a:alpha val="20000"/>
              </a:srgbClr>
            </a:outerShdw>
          </a:effectLst>
        </p:spPr>
      </p:sp>
      <p:pic>
        <p:nvPicPr>
          <p:cNvPr id="6" name="Image 1" descr="/home/claude/pptx_work/product_chart.png"/>
          <p:cNvPicPr>
            <a:picLocks noChangeAspect="1"/>
          </p:cNvPicPr>
          <p:nvPr/>
        </p:nvPicPr>
        <p:blipFill>
          <a:blip r:embed="rId4"/>
          <a:stretch>
            <a:fillRect/>
          </a:stretch>
        </p:blipFill>
        <p:spPr>
          <a:xfrm>
            <a:off x="6446520" y="1508760"/>
            <a:ext cx="4983480" cy="34884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04</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marL="0" indent="0">
              <a:buNone/>
            </a:pPr>
            <a:r>
              <a:rPr lang="en-US" sz="3200" b="1" dirty="0">
                <a:solidFill>
                  <a:srgbClr val="1F3864"/>
                </a:solidFill>
                <a:latin typeface="Calibri" pitchFamily="34" charset="0"/>
                <a:ea typeface="Calibri" pitchFamily="34" charset="-122"/>
                <a:cs typeface="Calibri" pitchFamily="34" charset="-120"/>
              </a:rPr>
              <a:t>Advanced Level</a:t>
            </a:r>
            <a:endParaRPr lang="en-US" sz="3200" dirty="0"/>
          </a:p>
        </p:txBody>
      </p:sp>
      <p:sp>
        <p:nvSpPr>
          <p:cNvPr id="4" name="Text 2"/>
          <p:cNvSpPr/>
          <p:nvPr/>
        </p:nvSpPr>
        <p:spPr>
          <a:xfrm>
            <a:off x="548640" y="1298448"/>
            <a:ext cx="8229600" cy="457200"/>
          </a:xfrm>
          <a:prstGeom prst="rect">
            <a:avLst/>
          </a:prstGeom>
          <a:noFill/>
          <a:ln/>
        </p:spPr>
        <p:txBody>
          <a:bodyPr wrap="square" rtlCol="0" anchor="ctr"/>
          <a:lstStyle/>
          <a:p>
            <a:pPr marL="0" indent="0">
              <a:buNone/>
            </a:pPr>
            <a:r>
              <a:rPr lang="en-US" sz="1600" b="1" dirty="0">
                <a:solidFill>
                  <a:srgbClr val="2E8B8B"/>
                </a:solidFill>
                <a:latin typeface="Calibri" pitchFamily="34" charset="0"/>
                <a:ea typeface="Calibri" pitchFamily="34" charset="-122"/>
                <a:cs typeface="Calibri" pitchFamily="34" charset="-120"/>
              </a:rPr>
              <a:t>Employee Attrition Dashboard — Power BI</a:t>
            </a:r>
            <a:endParaRPr lang="en-US" sz="1600" dirty="0"/>
          </a:p>
        </p:txBody>
      </p:sp>
      <p:sp>
        <p:nvSpPr>
          <p:cNvPr id="5" name="Text 3"/>
          <p:cNvSpPr/>
          <p:nvPr/>
        </p:nvSpPr>
        <p:spPr>
          <a:xfrm>
            <a:off x="640080" y="2103120"/>
            <a:ext cx="5486400" cy="3931920"/>
          </a:xfrm>
          <a:prstGeom prst="rect">
            <a:avLst/>
          </a:prstGeom>
          <a:noFill/>
          <a:ln/>
        </p:spPr>
        <p:txBody>
          <a:bodyPr wrap="square" rtlCol="0" anchor="t"/>
          <a:lstStyle/>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Task: Build an executive-style, interactive dashboard using Power BI (IBM HR Analytics dataset, 1,470 employees).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Cleaned data via Power Query; removed constant columns (EmployeeCount, Over18, StandardHours).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Built 10+ DAX measures: Attrition Rate, department/segment breakdowns, average income, etc.</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Visuals: KPI cards, Attrition Rate gauge, bar/donut/line charts, AI-powered Key Influencers.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Interactive slicers (Department, Gender, OverTime) with full cross-filtering.</a:t>
            </a:r>
            <a:endParaRPr lang="en-US" sz="1550" dirty="0"/>
          </a:p>
        </p:txBody>
      </p:sp>
      <p:sp>
        <p:nvSpPr>
          <p:cNvPr id="6" name="Shape 4"/>
          <p:cNvSpPr/>
          <p:nvPr/>
        </p:nvSpPr>
        <p:spPr>
          <a:xfrm>
            <a:off x="6446520" y="2103120"/>
            <a:ext cx="5166360" cy="3840480"/>
          </a:xfrm>
          <a:prstGeom prst="rect">
            <a:avLst/>
          </a:prstGeom>
          <a:solidFill>
            <a:srgbClr val="F5F7FA"/>
          </a:solidFill>
          <a:ln/>
        </p:spPr>
      </p:sp>
      <p:sp>
        <p:nvSpPr>
          <p:cNvPr id="7" name="Text 5"/>
          <p:cNvSpPr/>
          <p:nvPr/>
        </p:nvSpPr>
        <p:spPr>
          <a:xfrm>
            <a:off x="6720840" y="2331720"/>
            <a:ext cx="4572000" cy="320040"/>
          </a:xfrm>
          <a:prstGeom prst="rect">
            <a:avLst/>
          </a:prstGeom>
          <a:noFill/>
          <a:ln/>
        </p:spPr>
        <p:txBody>
          <a:bodyPr wrap="square" rtlCol="0" anchor="ctr"/>
          <a:lstStyle/>
          <a:p>
            <a:pPr marL="0" indent="0">
              <a:buNone/>
            </a:pPr>
            <a:r>
              <a:rPr lang="en-US" sz="1200" b="1" kern="0" spc="100" dirty="0">
                <a:solidFill>
                  <a:srgbClr val="C99A3E"/>
                </a:solidFill>
                <a:latin typeface="Calibri" pitchFamily="34" charset="0"/>
                <a:ea typeface="Calibri" pitchFamily="34" charset="-122"/>
                <a:cs typeface="Calibri" pitchFamily="34" charset="-120"/>
              </a:rPr>
              <a:t>AI KEY INFLUENCERS</a:t>
            </a:r>
            <a:endParaRPr lang="en-US" sz="1200" dirty="0"/>
          </a:p>
        </p:txBody>
      </p:sp>
      <p:sp>
        <p:nvSpPr>
          <p:cNvPr id="8" name="Text 6"/>
          <p:cNvSpPr/>
          <p:nvPr/>
        </p:nvSpPr>
        <p:spPr>
          <a:xfrm>
            <a:off x="6720840" y="2743200"/>
            <a:ext cx="4617720" cy="1463040"/>
          </a:xfrm>
          <a:prstGeom prst="rect">
            <a:avLst/>
          </a:prstGeom>
          <a:noFill/>
          <a:ln/>
        </p:spPr>
        <p:txBody>
          <a:bodyPr wrap="square" rtlCol="0" anchor="ctr"/>
          <a:lstStyle/>
          <a:p>
            <a:pPr marL="342900" indent="-342900">
              <a:lnSpc>
                <a:spcPct val="130000"/>
              </a:lnSpc>
              <a:spcAft>
                <a:spcPts val="1000"/>
              </a:spcAft>
              <a:buSzPct val="100000"/>
              <a:buChar char="•"/>
            </a:pPr>
            <a:r>
              <a:rPr lang="en-US" sz="1550" b="1" dirty="0">
                <a:solidFill>
                  <a:srgbClr val="1F3864"/>
                </a:solidFill>
                <a:latin typeface="Calibri" pitchFamily="34" charset="0"/>
                <a:ea typeface="Calibri" pitchFamily="34" charset="-122"/>
                <a:cs typeface="Calibri" pitchFamily="34" charset="-120"/>
              </a:rPr>
              <a:t>Age ≤ 21  →  3.57x risk</a:t>
            </a:r>
            <a:endParaRPr lang="en-US" sz="1550" dirty="0"/>
          </a:p>
          <a:p>
            <a:pPr marL="342900" indent="-342900">
              <a:lnSpc>
                <a:spcPct val="130000"/>
              </a:lnSpc>
              <a:spcAft>
                <a:spcPts val="1000"/>
              </a:spcAft>
              <a:buSzPct val="100000"/>
              <a:buChar char="•"/>
            </a:pPr>
            <a:r>
              <a:rPr lang="en-US" sz="1550" b="1" dirty="0">
                <a:solidFill>
                  <a:srgbClr val="1F3864"/>
                </a:solidFill>
                <a:latin typeface="Calibri" pitchFamily="34" charset="0"/>
                <a:ea typeface="Calibri" pitchFamily="34" charset="-122"/>
                <a:cs typeface="Calibri" pitchFamily="34" charset="-120"/>
              </a:rPr>
              <a:t>OverTime = Yes  →  2.93x risk</a:t>
            </a:r>
            <a:endParaRPr lang="en-US" sz="1550" dirty="0"/>
          </a:p>
          <a:p>
            <a:pPr marL="342900" indent="-342900">
              <a:lnSpc>
                <a:spcPct val="130000"/>
              </a:lnSpc>
              <a:spcAft>
                <a:spcPts val="1000"/>
              </a:spcAft>
              <a:buSzPct val="100000"/>
              <a:buChar char="•"/>
            </a:pPr>
            <a:r>
              <a:rPr lang="en-US" sz="1550" b="1" dirty="0">
                <a:solidFill>
                  <a:srgbClr val="1F3864"/>
                </a:solidFill>
                <a:latin typeface="Calibri" pitchFamily="34" charset="0"/>
                <a:ea typeface="Calibri" pitchFamily="34" charset="-122"/>
                <a:cs typeface="Calibri" pitchFamily="34" charset="-120"/>
              </a:rPr>
              <a:t>JobRole = Sales Rep  →  2.70x risk</a:t>
            </a:r>
            <a:endParaRPr lang="en-US" sz="1550" dirty="0"/>
          </a:p>
        </p:txBody>
      </p:sp>
      <p:sp>
        <p:nvSpPr>
          <p:cNvPr id="9" name="Text 7"/>
          <p:cNvSpPr/>
          <p:nvPr/>
        </p:nvSpPr>
        <p:spPr>
          <a:xfrm>
            <a:off x="6720840" y="5029200"/>
            <a:ext cx="4617720" cy="822960"/>
          </a:xfrm>
          <a:prstGeom prst="rect">
            <a:avLst/>
          </a:prstGeom>
          <a:noFill/>
          <a:ln/>
        </p:spPr>
        <p:txBody>
          <a:bodyPr wrap="square" rtlCol="0" anchor="ctr"/>
          <a:lstStyle/>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Tools: Power BI Desktop  •  Power Query  •  DAX</a:t>
            </a:r>
            <a:endParaRPr lang="en-US" sz="1250" dirty="0"/>
          </a:p>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Dataset: Kaggle — IBM HR Analytics Attrition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Advanced Level — Final Dashboard</a:t>
            </a:r>
            <a:endParaRPr lang="en-US" sz="2200" dirty="0"/>
          </a:p>
        </p:txBody>
      </p:sp>
      <p:pic>
        <p:nvPicPr>
          <p:cNvPr id="5" name="Picture 4">
            <a:extLst>
              <a:ext uri="{FF2B5EF4-FFF2-40B4-BE49-F238E27FC236}">
                <a16:creationId xmlns:a16="http://schemas.microsoft.com/office/drawing/2014/main" id="{D5E56389-780B-343E-8A83-E02506188BAE}"/>
              </a:ext>
            </a:extLst>
          </p:cNvPr>
          <p:cNvPicPr>
            <a:picLocks noChangeAspect="1"/>
          </p:cNvPicPr>
          <p:nvPr/>
        </p:nvPicPr>
        <p:blipFill>
          <a:blip r:embed="rId3"/>
          <a:stretch>
            <a:fillRect/>
          </a:stretch>
        </p:blipFill>
        <p:spPr>
          <a:xfrm>
            <a:off x="644978" y="872370"/>
            <a:ext cx="10834007" cy="58713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05</a:t>
            </a:r>
            <a:endParaRPr lang="en-US" sz="1300" dirty="0"/>
          </a:p>
        </p:txBody>
      </p:sp>
      <p:sp>
        <p:nvSpPr>
          <p:cNvPr id="3" name="Text 1"/>
          <p:cNvSpPr/>
          <p:nvPr/>
        </p:nvSpPr>
        <p:spPr>
          <a:xfrm>
            <a:off x="548640" y="777240"/>
            <a:ext cx="8229600" cy="73152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Conclusion</a:t>
            </a:r>
            <a:endParaRPr lang="en-US" sz="3400" dirty="0"/>
          </a:p>
        </p:txBody>
      </p:sp>
      <p:sp>
        <p:nvSpPr>
          <p:cNvPr id="4" name="Text 2"/>
          <p:cNvSpPr/>
          <p:nvPr/>
        </p:nvSpPr>
        <p:spPr>
          <a:xfrm>
            <a:off x="640080" y="1965960"/>
            <a:ext cx="10881360" cy="1554480"/>
          </a:xfrm>
          <a:prstGeom prst="rect">
            <a:avLst/>
          </a:prstGeom>
          <a:noFill/>
          <a:ln/>
        </p:spPr>
        <p:txBody>
          <a:bodyPr wrap="square" rtlCol="0" anchor="ctr"/>
          <a:lstStyle/>
          <a:p>
            <a:pPr marL="0" indent="0">
              <a:lnSpc>
                <a:spcPct val="135000"/>
              </a:lnSpc>
              <a:buNone/>
            </a:pPr>
            <a:r>
              <a:rPr lang="en-US" sz="1650" dirty="0">
                <a:solidFill>
                  <a:srgbClr val="333333"/>
                </a:solidFill>
                <a:latin typeface="Calibri" pitchFamily="34" charset="0"/>
                <a:ea typeface="Calibri" pitchFamily="34" charset="-122"/>
                <a:cs typeface="Calibri" pitchFamily="34" charset="-120"/>
              </a:rPr>
              <a:t>This internship took me from basic spreadsheet reporting to building a fully interactive, insight-driven Power BI dashboard. Each level built directly on the skills of the one before it — the Beginner level established a foundation in data cleaning and formula-based reporting; the Intermediate level pushed toward deeper business interpretation through customer and segment analysis; and the Advanced level introduced professional BI tooling and AI-assisted insight discovery.</a:t>
            </a:r>
            <a:endParaRPr lang="en-US" sz="1650" dirty="0"/>
          </a:p>
        </p:txBody>
      </p:sp>
      <p:sp>
        <p:nvSpPr>
          <p:cNvPr id="5" name="Shape 3"/>
          <p:cNvSpPr/>
          <p:nvPr/>
        </p:nvSpPr>
        <p:spPr>
          <a:xfrm>
            <a:off x="640080" y="3749040"/>
            <a:ext cx="3429000" cy="2286000"/>
          </a:xfrm>
          <a:prstGeom prst="rect">
            <a:avLst/>
          </a:prstGeom>
          <a:solidFill>
            <a:srgbClr val="F5F7FA"/>
          </a:solidFill>
          <a:ln/>
        </p:spPr>
      </p:sp>
      <p:sp>
        <p:nvSpPr>
          <p:cNvPr id="6" name="Text 4"/>
          <p:cNvSpPr/>
          <p:nvPr/>
        </p:nvSpPr>
        <p:spPr>
          <a:xfrm>
            <a:off x="868680" y="3931920"/>
            <a:ext cx="3017520" cy="457200"/>
          </a:xfrm>
          <a:prstGeom prst="rect">
            <a:avLst/>
          </a:prstGeom>
          <a:noFill/>
          <a:ln/>
        </p:spPr>
        <p:txBody>
          <a:bodyPr wrap="square" rtlCol="0" anchor="ctr"/>
          <a:lstStyle/>
          <a:p>
            <a:pPr marL="0" indent="0">
              <a:buNone/>
            </a:pPr>
            <a:r>
              <a:rPr lang="en-US" sz="1550" b="1" dirty="0">
                <a:solidFill>
                  <a:srgbClr val="1F3864"/>
                </a:solidFill>
                <a:latin typeface="Calibri" pitchFamily="34" charset="0"/>
                <a:ea typeface="Calibri" pitchFamily="34" charset="-122"/>
                <a:cs typeface="Calibri" pitchFamily="34" charset="-120"/>
              </a:rPr>
              <a:t>Technical Growth</a:t>
            </a:r>
            <a:endParaRPr lang="en-US" sz="1550" dirty="0"/>
          </a:p>
        </p:txBody>
      </p:sp>
      <p:sp>
        <p:nvSpPr>
          <p:cNvPr id="7" name="Text 5"/>
          <p:cNvSpPr/>
          <p:nvPr/>
        </p:nvSpPr>
        <p:spPr>
          <a:xfrm>
            <a:off x="868680" y="4434840"/>
            <a:ext cx="3017520" cy="1463040"/>
          </a:xfrm>
          <a:prstGeom prst="rect">
            <a:avLst/>
          </a:prstGeom>
          <a:noFill/>
          <a:ln/>
        </p:spPr>
        <p:txBody>
          <a:bodyPr wrap="square" rtlCol="0" anchor="ctr"/>
          <a:lstStyle/>
          <a:p>
            <a:pPr marL="0" indent="0">
              <a:lnSpc>
                <a:spcPct val="130000"/>
              </a:lnSpc>
              <a:buNone/>
            </a:pPr>
            <a:r>
              <a:rPr lang="en-US" sz="1250" dirty="0">
                <a:solidFill>
                  <a:srgbClr val="444444"/>
                </a:solidFill>
                <a:latin typeface="Calibri" pitchFamily="34" charset="0"/>
                <a:ea typeface="Calibri" pitchFamily="34" charset="-122"/>
                <a:cs typeface="Calibri" pitchFamily="34" charset="-120"/>
              </a:rPr>
              <a:t>Excel formulas, Power BI, Power Query, and DAX — hands-on, job-ready tooling.</a:t>
            </a:r>
            <a:endParaRPr lang="en-US" sz="1250" dirty="0"/>
          </a:p>
        </p:txBody>
      </p:sp>
      <p:sp>
        <p:nvSpPr>
          <p:cNvPr id="8" name="Shape 6"/>
          <p:cNvSpPr/>
          <p:nvPr/>
        </p:nvSpPr>
        <p:spPr>
          <a:xfrm>
            <a:off x="4343400" y="3749040"/>
            <a:ext cx="3429000" cy="2286000"/>
          </a:xfrm>
          <a:prstGeom prst="rect">
            <a:avLst/>
          </a:prstGeom>
          <a:solidFill>
            <a:srgbClr val="F5F7FA"/>
          </a:solidFill>
          <a:ln/>
        </p:spPr>
      </p:sp>
      <p:sp>
        <p:nvSpPr>
          <p:cNvPr id="9" name="Text 7"/>
          <p:cNvSpPr/>
          <p:nvPr/>
        </p:nvSpPr>
        <p:spPr>
          <a:xfrm>
            <a:off x="4572000" y="3931920"/>
            <a:ext cx="3017520" cy="457200"/>
          </a:xfrm>
          <a:prstGeom prst="rect">
            <a:avLst/>
          </a:prstGeom>
          <a:noFill/>
          <a:ln/>
        </p:spPr>
        <p:txBody>
          <a:bodyPr wrap="square" rtlCol="0" anchor="ctr"/>
          <a:lstStyle/>
          <a:p>
            <a:pPr marL="0" indent="0">
              <a:buNone/>
            </a:pPr>
            <a:r>
              <a:rPr lang="en-US" sz="1550" b="1" dirty="0">
                <a:solidFill>
                  <a:srgbClr val="1F3864"/>
                </a:solidFill>
                <a:latin typeface="Calibri" pitchFamily="34" charset="0"/>
                <a:ea typeface="Calibri" pitchFamily="34" charset="-122"/>
                <a:cs typeface="Calibri" pitchFamily="34" charset="-120"/>
              </a:rPr>
              <a:t>Business Thinking</a:t>
            </a:r>
            <a:endParaRPr lang="en-US" sz="1550" dirty="0"/>
          </a:p>
        </p:txBody>
      </p:sp>
      <p:sp>
        <p:nvSpPr>
          <p:cNvPr id="10" name="Text 8"/>
          <p:cNvSpPr/>
          <p:nvPr/>
        </p:nvSpPr>
        <p:spPr>
          <a:xfrm>
            <a:off x="4572000" y="4434840"/>
            <a:ext cx="3017520" cy="1463040"/>
          </a:xfrm>
          <a:prstGeom prst="rect">
            <a:avLst/>
          </a:prstGeom>
          <a:noFill/>
          <a:ln/>
        </p:spPr>
        <p:txBody>
          <a:bodyPr wrap="square" rtlCol="0" anchor="ctr"/>
          <a:lstStyle/>
          <a:p>
            <a:pPr marL="0" indent="0">
              <a:lnSpc>
                <a:spcPct val="130000"/>
              </a:lnSpc>
              <a:buNone/>
            </a:pPr>
            <a:r>
              <a:rPr lang="en-US" sz="1250" dirty="0">
                <a:solidFill>
                  <a:srgbClr val="444444"/>
                </a:solidFill>
                <a:latin typeface="Calibri" pitchFamily="34" charset="0"/>
                <a:ea typeface="Calibri" pitchFamily="34" charset="-122"/>
                <a:cs typeface="Calibri" pitchFamily="34" charset="-120"/>
              </a:rPr>
              <a:t>Learned to ask not just what the data shows, but why it matters and what to do about it.</a:t>
            </a:r>
            <a:endParaRPr lang="en-US" sz="1250" dirty="0"/>
          </a:p>
        </p:txBody>
      </p:sp>
      <p:sp>
        <p:nvSpPr>
          <p:cNvPr id="11" name="Shape 9"/>
          <p:cNvSpPr/>
          <p:nvPr/>
        </p:nvSpPr>
        <p:spPr>
          <a:xfrm>
            <a:off x="8046720" y="3749040"/>
            <a:ext cx="3429000" cy="2286000"/>
          </a:xfrm>
          <a:prstGeom prst="rect">
            <a:avLst/>
          </a:prstGeom>
          <a:solidFill>
            <a:srgbClr val="F5F7FA"/>
          </a:solidFill>
          <a:ln/>
        </p:spPr>
      </p:sp>
      <p:sp>
        <p:nvSpPr>
          <p:cNvPr id="12" name="Text 10"/>
          <p:cNvSpPr/>
          <p:nvPr/>
        </p:nvSpPr>
        <p:spPr>
          <a:xfrm>
            <a:off x="8275320" y="3931920"/>
            <a:ext cx="3017520" cy="457200"/>
          </a:xfrm>
          <a:prstGeom prst="rect">
            <a:avLst/>
          </a:prstGeom>
          <a:noFill/>
          <a:ln/>
        </p:spPr>
        <p:txBody>
          <a:bodyPr wrap="square" rtlCol="0" anchor="ctr"/>
          <a:lstStyle/>
          <a:p>
            <a:pPr marL="0" indent="0">
              <a:buNone/>
            </a:pPr>
            <a:r>
              <a:rPr lang="en-US" sz="1550" b="1" dirty="0">
                <a:solidFill>
                  <a:srgbClr val="1F3864"/>
                </a:solidFill>
                <a:latin typeface="Calibri" pitchFamily="34" charset="0"/>
                <a:ea typeface="Calibri" pitchFamily="34" charset="-122"/>
                <a:cs typeface="Calibri" pitchFamily="34" charset="-120"/>
              </a:rPr>
              <a:t>Structured Reporting</a:t>
            </a:r>
            <a:endParaRPr lang="en-US" sz="1550" dirty="0"/>
          </a:p>
        </p:txBody>
      </p:sp>
      <p:sp>
        <p:nvSpPr>
          <p:cNvPr id="13" name="Text 11"/>
          <p:cNvSpPr/>
          <p:nvPr/>
        </p:nvSpPr>
        <p:spPr>
          <a:xfrm>
            <a:off x="8275320" y="4434840"/>
            <a:ext cx="3017520" cy="1463040"/>
          </a:xfrm>
          <a:prstGeom prst="rect">
            <a:avLst/>
          </a:prstGeom>
          <a:noFill/>
          <a:ln/>
        </p:spPr>
        <p:txBody>
          <a:bodyPr wrap="square" rtlCol="0" anchor="ctr"/>
          <a:lstStyle/>
          <a:p>
            <a:pPr marL="0" indent="0">
              <a:lnSpc>
                <a:spcPct val="130000"/>
              </a:lnSpc>
              <a:buNone/>
            </a:pPr>
            <a:r>
              <a:rPr lang="en-US" sz="1250" dirty="0">
                <a:solidFill>
                  <a:srgbClr val="444444"/>
                </a:solidFill>
                <a:latin typeface="Calibri" pitchFamily="34" charset="0"/>
                <a:ea typeface="Calibri" pitchFamily="34" charset="-122"/>
                <a:cs typeface="Calibri" pitchFamily="34" charset="-120"/>
              </a:rPr>
              <a:t>Practiced turning raw analysis into a clear narrative for real decision-makers.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24466E"/>
          </a:solidFill>
          <a:ln/>
        </p:spPr>
      </p:sp>
      <p:sp>
        <p:nvSpPr>
          <p:cNvPr id="3" name="Shape 1"/>
          <p:cNvSpPr/>
          <p:nvPr/>
        </p:nvSpPr>
        <p:spPr>
          <a:xfrm>
            <a:off x="-2194560" y="4389120"/>
            <a:ext cx="4572000" cy="4572000"/>
          </a:xfrm>
          <a:prstGeom prst="ellipse">
            <a:avLst/>
          </a:prstGeom>
          <a:solidFill>
            <a:srgbClr val="24466E"/>
          </a:solidFill>
          <a:ln/>
        </p:spPr>
      </p:sp>
      <p:sp>
        <p:nvSpPr>
          <p:cNvPr id="4" name="Text 2"/>
          <p:cNvSpPr/>
          <p:nvPr/>
        </p:nvSpPr>
        <p:spPr>
          <a:xfrm>
            <a:off x="822960" y="2834640"/>
            <a:ext cx="10058400" cy="1097280"/>
          </a:xfrm>
          <a:prstGeom prst="rect">
            <a:avLst/>
          </a:prstGeom>
          <a:noFill/>
          <a:ln/>
        </p:spPr>
        <p:txBody>
          <a:bodyPr wrap="square" rtlCol="0" anchor="ctr"/>
          <a:lstStyle/>
          <a:p>
            <a:pPr marL="0" indent="0">
              <a:buNone/>
            </a:pPr>
            <a:r>
              <a:rPr lang="en-US" sz="4800" b="1" kern="0" spc="300"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Shape 3"/>
          <p:cNvSpPr/>
          <p:nvPr/>
        </p:nvSpPr>
        <p:spPr>
          <a:xfrm>
            <a:off x="868680" y="3703320"/>
            <a:ext cx="1188720" cy="45720"/>
          </a:xfrm>
          <a:prstGeom prst="rect">
            <a:avLst/>
          </a:prstGeom>
          <a:solidFill>
            <a:srgbClr val="C99A3E"/>
          </a:solidFill>
          <a:ln/>
        </p:spPr>
      </p:sp>
      <p:sp>
        <p:nvSpPr>
          <p:cNvPr id="6" name="Text 4"/>
          <p:cNvSpPr/>
          <p:nvPr/>
        </p:nvSpPr>
        <p:spPr>
          <a:xfrm>
            <a:off x="822960" y="3931920"/>
            <a:ext cx="9144000" cy="457200"/>
          </a:xfrm>
          <a:prstGeom prst="rect">
            <a:avLst/>
          </a:prstGeom>
          <a:noFill/>
          <a:ln/>
        </p:spPr>
        <p:txBody>
          <a:bodyPr wrap="square" rtlCol="0" anchor="ctr"/>
          <a:lstStyle/>
          <a:p>
            <a:pPr marL="0" indent="0">
              <a:buNone/>
            </a:pPr>
            <a:r>
              <a:rPr lang="en-US" sz="1600" dirty="0">
                <a:solidFill>
                  <a:srgbClr val="B9C6DC"/>
                </a:solidFill>
                <a:latin typeface="Calibri" pitchFamily="34" charset="0"/>
                <a:ea typeface="Calibri" pitchFamily="34" charset="-122"/>
                <a:cs typeface="Calibri" pitchFamily="34" charset="-120"/>
              </a:rPr>
              <a:t>Aditya Kumar Sharma  |  Data Analyst Intern, ShadowFox</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682</Words>
  <Application>Microsoft Office PowerPoint</Application>
  <PresentationFormat>Widescreen</PresentationFormat>
  <Paragraphs>86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aditya sharma</cp:lastModifiedBy>
  <cp:revision>2</cp:revision>
  <dcterms:created xsi:type="dcterms:W3CDTF">2026-08-21T08:13:50Z</dcterms:created>
  <dcterms:modified xsi:type="dcterms:W3CDTF">2026-08-21T08:28:58Z</dcterms:modified>
</cp:coreProperties>
</file>